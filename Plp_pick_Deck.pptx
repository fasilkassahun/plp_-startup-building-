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69" r:id="rId3"/>
    <p:sldId id="257" r:id="rId4"/>
    <p:sldId id="265" r:id="rId5"/>
    <p:sldId id="268" r:id="rId6"/>
    <p:sldId id="270" r:id="rId7"/>
    <p:sldId id="271" r:id="rId8"/>
    <p:sldId id="273" r:id="rId9"/>
    <p:sldId id="277" r:id="rId10"/>
    <p:sldId id="276" r:id="rId11"/>
    <p:sldId id="287" r:id="rId12"/>
  </p:sldIdLst>
  <p:sldSz cx="9144000" cy="5143500" type="screen16x9"/>
  <p:notesSz cx="6858000" cy="9144000"/>
  <p:embeddedFontLst>
    <p:embeddedFont>
      <p:font typeface="Microsoft Himalaya" pitchFamily="2" charset="0"/>
      <p:regular r:id="rId14"/>
    </p:embeddedFont>
    <p:embeddedFont>
      <p:font typeface="Raleway" charset="0"/>
      <p:regular r:id="rId15"/>
      <p:bold r:id="rId16"/>
      <p:italic r:id="rId17"/>
      <p:boldItalic r:id="rId18"/>
    </p:embeddedFont>
    <p:embeddedFont>
      <p:font typeface="Lato" charset="0"/>
      <p:regular r:id="rId19"/>
      <p:bold r:id="rId20"/>
      <p:italic r:id="rId21"/>
      <p:boldItalic r:id="rId22"/>
    </p:embeddedFont>
    <p:embeddedFont>
      <p:font typeface="Calibri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32" autoAdjust="0"/>
    <p:restoredTop sz="93891" autoAdjust="0"/>
  </p:normalViewPr>
  <p:slideViewPr>
    <p:cSldViewPr snapToGrid="0">
      <p:cViewPr>
        <p:scale>
          <a:sx n="103" d="100"/>
          <a:sy n="103" d="100"/>
        </p:scale>
        <p:origin x="-291" y="2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8980868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70889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2213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1192e598cf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1192e598cf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435868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1192e598cf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1192e598cf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07341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1192e598cf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1192e598cf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8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b="1" dirty="0"/>
              <a:t>Manual Classification Methods</a:t>
            </a:r>
            <a:endParaRPr lang="en-US" dirty="0"/>
          </a:p>
          <a:p>
            <a:pPr algn="just">
              <a:lnSpc>
                <a:spcPct val="100000"/>
              </a:lnSpc>
            </a:pPr>
            <a:r>
              <a:rPr lang="en-US" dirty="0"/>
              <a:t>Challenges with Manual Identification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76402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1192e598cf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1192e598cf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b="1" dirty="0"/>
              <a:t>Existing Automated Systems</a:t>
            </a:r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dirty="0"/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b="1" dirty="0"/>
              <a:t>Unique Characteristics of Ethiopian Groundnuts</a:t>
            </a:r>
            <a:endParaRPr lang="en-US" dirty="0"/>
          </a:p>
          <a:p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993889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1192e598cf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1192e598cf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>
                <a:solidFill>
                  <a:schemeClr val="bg2"/>
                </a:solidFill>
                <a:latin typeface="Times New Roman" panose="02020603050405020304" pitchFamily="18" charset="0"/>
                <a:ea typeface="Cardo"/>
              </a:rPr>
              <a:t>Automation will support better decision-making for crop management and disease detection in Ethiopian groundnut cultivation.</a:t>
            </a:r>
            <a:endParaRPr lang="en-US" sz="1100" dirty="0">
              <a:solidFill>
                <a:schemeClr val="bg2"/>
              </a:solidFill>
              <a:effectLst/>
              <a:latin typeface="Times New Roman" panose="02020603050405020304" pitchFamily="18" charset="0"/>
              <a:ea typeface="Card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dirty="0"/>
          </a:p>
          <a:p>
            <a:pPr marL="0" indent="0" algn="just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1100" dirty="0">
                <a:solidFill>
                  <a:schemeClr val="bg2"/>
                </a:solidFill>
                <a:latin typeface="Times New Roman" panose="02020603050405020304" pitchFamily="18" charset="0"/>
                <a:ea typeface="Cardo"/>
              </a:rPr>
              <a:t>Overcoming constraints in groundnut variety improvement is essential for enhancing production and disease resistance in Ethiopia(</a:t>
            </a:r>
            <a:r>
              <a:rPr lang="en-US" sz="1100" dirty="0" err="1">
                <a:solidFill>
                  <a:schemeClr val="bg2"/>
                </a:solidFill>
                <a:latin typeface="Times New Roman" panose="02020603050405020304" pitchFamily="18" charset="0"/>
                <a:ea typeface="Cardo"/>
              </a:rPr>
              <a:t>Sori</a:t>
            </a:r>
            <a:r>
              <a:rPr lang="en-US" sz="1100" dirty="0">
                <a:solidFill>
                  <a:schemeClr val="bg2"/>
                </a:solidFill>
                <a:latin typeface="Times New Roman" panose="02020603050405020304" pitchFamily="18" charset="0"/>
                <a:ea typeface="Cardo"/>
              </a:rPr>
              <a:t> and </a:t>
            </a:r>
            <a:r>
              <a:rPr lang="en-US" sz="1100" dirty="0" err="1">
                <a:solidFill>
                  <a:schemeClr val="bg2"/>
                </a:solidFill>
                <a:latin typeface="Times New Roman" panose="02020603050405020304" pitchFamily="18" charset="0"/>
                <a:ea typeface="Cardo"/>
              </a:rPr>
              <a:t>Wana</a:t>
            </a:r>
            <a:r>
              <a:rPr lang="en-US" sz="1100" dirty="0">
                <a:solidFill>
                  <a:schemeClr val="bg2"/>
                </a:solidFill>
                <a:latin typeface="Times New Roman" panose="02020603050405020304" pitchFamily="18" charset="0"/>
                <a:ea typeface="Cardo"/>
              </a:rPr>
              <a:t>, 2019).</a:t>
            </a:r>
          </a:p>
          <a:p>
            <a:r>
              <a:rPr lang="en-US" sz="1100" dirty="0">
                <a:solidFill>
                  <a:schemeClr val="bg2"/>
                </a:solidFill>
                <a:latin typeface="Times New Roman" panose="02020603050405020304" pitchFamily="18" charset="0"/>
                <a:ea typeface="Cardo"/>
              </a:rPr>
              <a:t>The lack of improved varieties is a significant hindrance to groundnut production.</a:t>
            </a:r>
          </a:p>
          <a:p>
            <a:r>
              <a:rPr lang="en-US" sz="1100" dirty="0">
                <a:solidFill>
                  <a:schemeClr val="bg2"/>
                </a:solidFill>
                <a:latin typeface="Times New Roman" panose="02020603050405020304" pitchFamily="18" charset="0"/>
                <a:ea typeface="Cardo"/>
              </a:rPr>
              <a:t>To mitigate this challenge, The national groundnut project, coordinated by </a:t>
            </a:r>
            <a:r>
              <a:rPr lang="en-US" sz="1100" dirty="0" err="1">
                <a:solidFill>
                  <a:schemeClr val="bg2"/>
                </a:solidFill>
                <a:latin typeface="Times New Roman" panose="02020603050405020304" pitchFamily="18" charset="0"/>
                <a:ea typeface="Cardo"/>
              </a:rPr>
              <a:t>Haramaya</a:t>
            </a:r>
            <a:r>
              <a:rPr lang="en-US" sz="1100" dirty="0">
                <a:solidFill>
                  <a:schemeClr val="bg2"/>
                </a:solidFill>
                <a:latin typeface="Times New Roman" panose="02020603050405020304" pitchFamily="18" charset="0"/>
                <a:ea typeface="Cardo"/>
              </a:rPr>
              <a:t> University, introduces three high-yielding and disease-resistant varieties: Babile-1, Babile-2, and Babile-3 (Amare K et al. , 2017).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885628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1192e598cf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1192e598cf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deep learning model </a:t>
            </a:r>
            <a:r>
              <a:rPr lang="en-US" sz="1100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for</a:t>
            </a:r>
            <a:r>
              <a:rPr lang="en-US" sz="1100" dirty="0"/>
              <a:t> </a:t>
            </a:r>
            <a:r>
              <a:rPr lang="en-US" sz="1100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multiclass classification of groundnut variety from groundnut images:</a:t>
            </a:r>
            <a:r>
              <a:rPr lang="en-US" sz="1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444892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1192e598cf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1192e598cf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251843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1192e598cf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1192e598cf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8320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6" r:id="rId7"/>
    <p:sldLayoutId id="2147483657" r:id="rId8"/>
    <p:sldLayoutId id="2147483658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729450" y="500744"/>
            <a:ext cx="7688100" cy="24001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1" algn="ctr"/>
            <a:r>
              <a:rPr lang="en-US" sz="2400" kern="150" dirty="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Noto Serif CJK SC"/>
                <a:cs typeface="Lohit Devanagari"/>
              </a:rPr>
              <a:t/>
            </a:r>
            <a:br>
              <a:rPr lang="en-US" sz="2400" kern="150" dirty="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Noto Serif CJK SC"/>
                <a:cs typeface="Lohit Devanagari"/>
              </a:rPr>
            </a:br>
            <a:r>
              <a:rPr lang="en-US" sz="2400" kern="150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  <a:t>Name: </a:t>
            </a:r>
            <a:r>
              <a:rPr lang="en-US" sz="2400" kern="150" dirty="0" err="1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  <a:t>Fasil</a:t>
            </a:r>
            <a:r>
              <a:rPr lang="en-US" sz="2400" kern="150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sz="2400" kern="150" dirty="0" err="1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  <a:t>kassahun</a:t>
            </a:r>
            <a:r>
              <a:rPr lang="en-US" sz="2400" kern="150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  <a:t> </a:t>
            </a:r>
            <a:br>
              <a:rPr lang="en-US" sz="2400" kern="150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</a:br>
            <a:r>
              <a:rPr lang="en-US" sz="2400" kern="150" dirty="0" smtClean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  <a:t/>
            </a:r>
            <a:br>
              <a:rPr lang="en-US" sz="2400" kern="150" dirty="0" smtClean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</a:br>
            <a:r>
              <a:rPr lang="en-GB" sz="2400" kern="150" dirty="0" err="1" smtClean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  <a:t>EcoBox</a:t>
            </a:r>
            <a:r>
              <a:rPr lang="en-GB" sz="2400" kern="150" dirty="0" smtClean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GB" sz="2400" kern="150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  <a:t>– Sustainable Packaging </a:t>
            </a:r>
            <a:r>
              <a:rPr lang="en-GB" sz="2400" kern="150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  <a:t>Solutions</a:t>
            </a:r>
            <a:r>
              <a:rPr lang="en-GB" sz="2200" kern="150" dirty="0" smtClean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  <a:t/>
            </a:r>
            <a:br>
              <a:rPr lang="en-GB" sz="2200" kern="150" dirty="0" smtClean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</a:br>
            <a:r>
              <a:rPr lang="en-US" sz="2400" kern="150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Noto Serif CJK SC"/>
                <a:cs typeface="Lohit Devanagari"/>
              </a:rPr>
              <a:t/>
            </a:r>
            <a:br>
              <a:rPr lang="en-US" sz="2400" kern="150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Noto Serif CJK SC"/>
                <a:cs typeface="Lohit Devanagari"/>
              </a:rPr>
            </a:br>
            <a:r>
              <a:rPr lang="en-US" sz="2400" kern="150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  <a:t>PLP </a:t>
            </a:r>
            <a:r>
              <a:rPr lang="en-US" sz="2400" kern="150" dirty="0" smtClean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  <a:t>Academy</a:t>
            </a:r>
            <a:r>
              <a:rPr lang="en-US" sz="2000" kern="150" dirty="0">
                <a:solidFill>
                  <a:srgbClr val="000000"/>
                </a:solidFill>
                <a:latin typeface="Times New Roman" panose="02020603050405020304" pitchFamily="18" charset="0"/>
                <a:ea typeface="Microsoft Himalaya" panose="01010100010101010101" pitchFamily="2" charset="0"/>
                <a:cs typeface="Times New Roman" panose="02020603050405020304" pitchFamily="18" charset="0"/>
              </a:rPr>
              <a:t/>
            </a:r>
            <a:br>
              <a:rPr lang="en-US" sz="2000" kern="150" dirty="0">
                <a:solidFill>
                  <a:srgbClr val="000000"/>
                </a:solidFill>
                <a:latin typeface="Times New Roman" panose="02020603050405020304" pitchFamily="18" charset="0"/>
                <a:ea typeface="Microsoft Himalaya" panose="01010100010101010101" pitchFamily="2" charset="0"/>
                <a:cs typeface="Times New Roman" panose="02020603050405020304" pitchFamily="18" charset="0"/>
              </a:rPr>
            </a:br>
            <a:endParaRPr sz="2200" u="sng" dirty="0"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465083" y="4543646"/>
            <a:ext cx="8308427" cy="5998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1" algn="r">
              <a:lnSpc>
                <a:spcPct val="115000"/>
              </a:lnSpc>
            </a:pPr>
            <a:r>
              <a:rPr lang="en-US" sz="2400" kern="150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  <a:t>12/4/2025</a:t>
            </a:r>
            <a:endParaRPr sz="2400" b="1" kern="150" dirty="0">
              <a:solidFill>
                <a:srgbClr val="000000"/>
              </a:solidFill>
              <a:latin typeface="Times New Roman" panose="02020603050405020304" pitchFamily="18" charset="0"/>
              <a:ea typeface="Microsoft Himalaya" panose="01010100010101010101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4479634" y="74711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/>
          </a:p>
        </p:txBody>
      </p:sp>
      <p:sp>
        <p:nvSpPr>
          <p:cNvPr id="7" name="Google Shape;87;p13"/>
          <p:cNvSpPr txBox="1">
            <a:spLocks/>
          </p:cNvSpPr>
          <p:nvPr/>
        </p:nvSpPr>
        <p:spPr>
          <a:xfrm>
            <a:off x="3512839" y="3678821"/>
            <a:ext cx="2837151" cy="644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457200" lvl="1" algn="r">
              <a:lnSpc>
                <a:spcPct val="115000"/>
              </a:lnSpc>
            </a:pPr>
            <a:endParaRPr lang="en-US" sz="2200" b="1" kern="150" dirty="0">
              <a:solidFill>
                <a:srgbClr val="000000"/>
              </a:solidFill>
              <a:effectLst>
                <a:outerShdw blurRad="38100" dist="19050" dir="2700000" algn="tl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sym typeface="Raleway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8782492" y="4841357"/>
            <a:ext cx="302509" cy="302093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 smtClean="0"/>
              <a:t>1</a:t>
            </a:fld>
            <a:endParaRPr lang="en" sz="15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5A5ACE2E-67A3-1B93-21A5-136B6ACB32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2541" y="672935"/>
            <a:ext cx="7688100" cy="590369"/>
          </a:xfrm>
        </p:spPr>
        <p:style>
          <a:lnRef idx="0">
            <a:scrgbClr r="0" g="0" b="0"/>
          </a:lnRef>
          <a:fillRef idx="1002">
            <a:schemeClr val="dk1"/>
          </a:fillRef>
          <a:effectRef idx="0">
            <a:scrgbClr r="0" g="0" b="0"/>
          </a:effectRef>
          <a:fontRef idx="major"/>
        </p:style>
        <p:txBody>
          <a:bodyPr>
            <a:no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5DE0C87-E540-6F01-5068-6E21C31446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2900" y="1181101"/>
            <a:ext cx="8801100" cy="3962400"/>
          </a:xfrm>
        </p:spPr>
        <p:txBody>
          <a:bodyPr numCol="2">
            <a:noAutofit/>
          </a:bodyPr>
          <a:lstStyle/>
          <a:p>
            <a:pPr algn="just">
              <a:lnSpc>
                <a:spcPct val="150000"/>
              </a:lnSpc>
              <a:buClr>
                <a:schemeClr val="accent3"/>
              </a:buClr>
              <a:buSzPct val="130000"/>
              <a:buFont typeface="Wingdings" panose="05000000000000000000" pitchFamily="2" charset="2"/>
              <a:buChar char=""/>
            </a:pPr>
            <a:r>
              <a:rPr lang="en-GB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en-US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>
                <a:schemeClr val="accent3"/>
              </a:buClr>
              <a:buSzPct val="130000"/>
              <a:buFont typeface="Wingdings" panose="05000000000000000000" pitchFamily="2" charset="2"/>
              <a:buChar char=""/>
            </a:pPr>
            <a:r>
              <a:rPr lang="en-GB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n-GB" sz="2400" dirty="0"/>
              <a:t> </a:t>
            </a:r>
            <a:endParaRPr lang="en-GB" sz="2400" dirty="0" smtClean="0"/>
          </a:p>
          <a:p>
            <a:pPr algn="just">
              <a:lnSpc>
                <a:spcPct val="150000"/>
              </a:lnSpc>
              <a:buClr>
                <a:schemeClr val="accent3"/>
              </a:buClr>
              <a:buSzPct val="130000"/>
              <a:buFont typeface="Wingdings" panose="05000000000000000000" pitchFamily="2" charset="2"/>
              <a:buChar char=""/>
            </a:pPr>
            <a:r>
              <a:rPr lang="en-GB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Opportunity</a:t>
            </a:r>
            <a:endParaRPr lang="en-US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>
                <a:schemeClr val="accent3"/>
              </a:buClr>
              <a:buSzPct val="130000"/>
              <a:buFont typeface="Wingdings" panose="05000000000000000000" pitchFamily="2" charset="2"/>
              <a:buChar char=""/>
            </a:pPr>
            <a:r>
              <a:rPr lang="en-GB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/ Technology</a:t>
            </a:r>
            <a:endParaRPr lang="en-US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>
                <a:schemeClr val="accent3"/>
              </a:buClr>
              <a:buSzPct val="130000"/>
              <a:buFont typeface="Wingdings" panose="05000000000000000000" pitchFamily="2" charset="2"/>
              <a:buChar char=""/>
            </a:pPr>
            <a:r>
              <a:rPr lang="en-GB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Model </a:t>
            </a:r>
          </a:p>
          <a:p>
            <a:pPr algn="just">
              <a:lnSpc>
                <a:spcPct val="150000"/>
              </a:lnSpc>
              <a:buClr>
                <a:schemeClr val="accent3"/>
              </a:buClr>
              <a:buSzPct val="130000"/>
              <a:buFont typeface="Wingdings" panose="05000000000000000000" pitchFamily="2" charset="2"/>
              <a:buChar char=""/>
            </a:pPr>
            <a:r>
              <a:rPr lang="en-GB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Traction </a:t>
            </a:r>
            <a:r>
              <a:rPr lang="en-GB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Validation</a:t>
            </a:r>
          </a:p>
          <a:p>
            <a:pPr algn="just">
              <a:lnSpc>
                <a:spcPct val="150000"/>
              </a:lnSpc>
              <a:buClr>
                <a:schemeClr val="accent3"/>
              </a:buClr>
              <a:buSzPct val="130000"/>
              <a:buFont typeface="Wingdings" panose="05000000000000000000" pitchFamily="2" charset="2"/>
              <a:buChar char=""/>
            </a:pPr>
            <a:r>
              <a:rPr lang="en-GB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</a:t>
            </a:r>
            <a:endParaRPr lang="en-GB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>
                <a:schemeClr val="accent3"/>
              </a:buClr>
              <a:buSzPct val="130000"/>
              <a:buFont typeface="Wingdings" panose="05000000000000000000" pitchFamily="2" charset="2"/>
              <a:buChar char=""/>
            </a:pPr>
            <a:r>
              <a:rPr lang="en-GB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Financials / Funding Ask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6050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>
          <a:xfrm>
            <a:off x="8661990" y="4749851"/>
            <a:ext cx="423011" cy="393600"/>
          </a:xfrm>
        </p:spPr>
        <p:txBody>
          <a:bodyPr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600" b="1" smtClean="0"/>
              <a:t>2</a:t>
            </a:fld>
            <a:endParaRPr lang="en" sz="1600" b="1" dirty="0"/>
          </a:p>
        </p:txBody>
      </p:sp>
    </p:spTree>
    <p:extLst>
      <p:ext uri="{BB962C8B-B14F-4D97-AF65-F5344CB8AC3E}">
        <p14:creationId xmlns:p14="http://schemas.microsoft.com/office/powerpoint/2010/main" val="226308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600364" y="556259"/>
            <a:ext cx="7817786" cy="727595"/>
          </a:xfrm>
          <a:prstGeom prst="rect">
            <a:avLst/>
          </a:prstGeom>
        </p:spPr>
        <p:style>
          <a:lnRef idx="0">
            <a:scrgbClr r="0" g="0" b="0"/>
          </a:lnRef>
          <a:fillRef idx="1002">
            <a:schemeClr val="dk1"/>
          </a:fillRef>
          <a:effectRef idx="0">
            <a:scrgbClr r="0" g="0" b="0"/>
          </a:effectRef>
          <a:fontRef idx="major"/>
        </p:style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sz="4000" dirty="0" smtClean="0"/>
              <a:t>Problem</a:t>
            </a:r>
            <a:r>
              <a:rPr lang="en-US" sz="4000" dirty="0"/>
              <a:t/>
            </a:r>
            <a:br>
              <a:rPr lang="en-US" sz="4000" dirty="0"/>
            </a:br>
            <a:endParaRPr dirty="0"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617220" y="1206062"/>
            <a:ext cx="7985760" cy="38625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Millions </a:t>
            </a:r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of tons of plastic and non-recyclable packaging produced annually.</a:t>
            </a:r>
          </a:p>
          <a:p>
            <a:pPr algn="just"/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Small businesses struggle to find affordable, eco-friendly alternatives.</a:t>
            </a:r>
          </a:p>
          <a:p>
            <a:pPr algn="just"/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Consumers increasingly demand sustainable packaging.</a:t>
            </a:r>
          </a:p>
          <a:p>
            <a:pPr marL="342900" indent="-342900" algn="just">
              <a:lnSpc>
                <a:spcPct val="100000"/>
              </a:lnSpc>
              <a:spcAft>
                <a:spcPts val="1200"/>
              </a:spcAft>
            </a:pPr>
            <a:endParaRPr lang="en-US" sz="2200" dirty="0">
              <a:solidFill>
                <a:schemeClr val="bg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600" b="1" smtClean="0"/>
              <a:t>3</a:t>
            </a:fld>
            <a:endParaRPr lang="en" sz="16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612140" y="669636"/>
            <a:ext cx="7753410" cy="609600"/>
          </a:xfrm>
          <a:prstGeom prst="rect">
            <a:avLst/>
          </a:prstGeom>
        </p:spPr>
        <p:style>
          <a:lnRef idx="0">
            <a:scrgbClr r="0" g="0" b="0"/>
          </a:lnRef>
          <a:fillRef idx="1002">
            <a:schemeClr val="dk1"/>
          </a:fillRef>
          <a:effectRef idx="0">
            <a:scrgbClr r="0" g="0" b="0"/>
          </a:effectRef>
          <a:fontRef idx="major"/>
        </p:style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sz="4000" dirty="0"/>
              <a:t>Solution</a:t>
            </a:r>
            <a:endParaRPr dirty="0"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480060" y="1219200"/>
            <a:ext cx="8199120" cy="39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US" sz="2200" dirty="0" err="1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EcoBox</a:t>
            </a:r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provides </a:t>
            </a:r>
            <a:r>
              <a:rPr lang="en-US" sz="2200" b="1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biodegradable</a:t>
            </a:r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200" b="1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customizable</a:t>
            </a:r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packaging</a:t>
            </a:r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for businesses.</a:t>
            </a:r>
          </a:p>
          <a:p>
            <a:pPr algn="just"/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Products made from </a:t>
            </a:r>
            <a:r>
              <a:rPr lang="en-US" sz="2200" b="1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recycled and compostable materials</a:t>
            </a:r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Online platform allows businesses to </a:t>
            </a:r>
            <a:r>
              <a:rPr lang="en-US" sz="2200" b="1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customize size</a:t>
            </a:r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200" b="1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design</a:t>
            </a:r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and </a:t>
            </a:r>
            <a:r>
              <a:rPr lang="en-US" sz="2200" b="1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branding</a:t>
            </a:r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600" b="1" smtClean="0"/>
              <a:t>4</a:t>
            </a:fld>
            <a:endParaRPr lang="en" sz="1600" b="1" dirty="0"/>
          </a:p>
        </p:txBody>
      </p:sp>
    </p:spTree>
    <p:extLst>
      <p:ext uri="{BB962C8B-B14F-4D97-AF65-F5344CB8AC3E}">
        <p14:creationId xmlns:p14="http://schemas.microsoft.com/office/powerpoint/2010/main" val="3941158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704559" y="708429"/>
            <a:ext cx="7688700" cy="571500"/>
          </a:xfrm>
          <a:prstGeom prst="rect">
            <a:avLst/>
          </a:prstGeom>
        </p:spPr>
        <p:style>
          <a:lnRef idx="0">
            <a:scrgbClr r="0" g="0" b="0"/>
          </a:lnRef>
          <a:fillRef idx="1002">
            <a:schemeClr val="dk1"/>
          </a:fillRef>
          <a:effectRef idx="0">
            <a:scrgbClr r="0" g="0" b="0"/>
          </a:effectRef>
          <a:fontRef idx="maj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3600" dirty="0"/>
              <a:t>Market Opportunity</a:t>
            </a:r>
            <a:endParaRPr lang="en-GB" sz="3600" dirty="0"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727650" y="1329500"/>
            <a:ext cx="7688700" cy="36814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GB" sz="2200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Global </a:t>
            </a:r>
            <a:r>
              <a:rPr lang="en-GB" sz="2200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eco-friendly packaging market projected to reach </a:t>
            </a:r>
            <a:r>
              <a:rPr lang="en-GB" sz="2200" b="1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$250 billion by 2030</a:t>
            </a:r>
            <a:r>
              <a:rPr lang="en-GB" sz="2200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algn="just"/>
            <a:r>
              <a:rPr lang="en-GB" sz="2200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Target customers: e-commerce </a:t>
            </a:r>
            <a:r>
              <a:rPr lang="en-GB" sz="2200" dirty="0" err="1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startups</a:t>
            </a:r>
            <a:r>
              <a:rPr lang="en-GB" sz="2200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small retailers, subscription box companies.</a:t>
            </a:r>
          </a:p>
          <a:p>
            <a:pPr algn="just"/>
            <a:r>
              <a:rPr lang="en-GB" sz="2200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Initial focus: local businesses; scale globally via online platform.</a:t>
            </a:r>
          </a:p>
          <a:p>
            <a:pPr marL="0" indent="0" algn="just">
              <a:lnSpc>
                <a:spcPct val="100000"/>
              </a:lnSpc>
              <a:spcAft>
                <a:spcPts val="1200"/>
              </a:spcAft>
              <a:buNone/>
            </a:pPr>
            <a:endParaRPr lang="en-US" sz="2200" dirty="0">
              <a:solidFill>
                <a:schemeClr val="bg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>
          <a:xfrm>
            <a:off x="8536302" y="4749900"/>
            <a:ext cx="548700" cy="393600"/>
          </a:xfrm>
        </p:spPr>
        <p:txBody>
          <a:bodyPr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600" b="1" smtClean="0"/>
              <a:t>5</a:t>
            </a:fld>
            <a:endParaRPr lang="en" sz="1600" b="1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7673E94A-2429-4E97-90C1-E3FA6F2F3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438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617220" y="601980"/>
            <a:ext cx="7799130" cy="640080"/>
          </a:xfrm>
          <a:prstGeom prst="rect">
            <a:avLst/>
          </a:prstGeom>
        </p:spPr>
        <p:style>
          <a:lnRef idx="0">
            <a:scrgbClr r="0" g="0" b="0"/>
          </a:lnRef>
          <a:fillRef idx="1002">
            <a:schemeClr val="dk1"/>
          </a:fillRef>
          <a:effectRef idx="0">
            <a:scrgbClr r="0" g="0" b="0"/>
          </a:effectRef>
          <a:fontRef idx="maj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600" dirty="0"/>
              <a:t>Product / Technology</a:t>
            </a:r>
            <a:endParaRPr lang="en-US" sz="3600" dirty="0"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717331" y="1347952"/>
            <a:ext cx="7756636" cy="36629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Materials</a:t>
            </a:r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 recycled paper, cornstarch wraps, plant-based plastics.</a:t>
            </a:r>
          </a:p>
          <a:p>
            <a:pPr algn="just"/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Customization options: branding, logos, colors, sizes.</a:t>
            </a:r>
          </a:p>
          <a:p>
            <a:pPr algn="just"/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Subscription model ensures recurring orders and steady revenue.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600" b="1" smtClean="0"/>
              <a:t>6</a:t>
            </a:fld>
            <a:endParaRPr lang="en" sz="1600" b="1" dirty="0"/>
          </a:p>
        </p:txBody>
      </p:sp>
    </p:spTree>
    <p:extLst>
      <p:ext uri="{BB962C8B-B14F-4D97-AF65-F5344CB8AC3E}">
        <p14:creationId xmlns:p14="http://schemas.microsoft.com/office/powerpoint/2010/main" val="2845475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727650" y="617372"/>
            <a:ext cx="7688700" cy="647548"/>
          </a:xfrm>
          <a:prstGeom prst="rect">
            <a:avLst/>
          </a:prstGeom>
        </p:spPr>
        <p:style>
          <a:lnRef idx="0">
            <a:scrgbClr r="0" g="0" b="0"/>
          </a:lnRef>
          <a:fillRef idx="1002">
            <a:schemeClr val="dk1"/>
          </a:fillRef>
          <a:effectRef idx="0">
            <a:scrgbClr r="0" g="0" b="0"/>
          </a:effectRef>
          <a:fontRef idx="maj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600" dirty="0"/>
              <a:t>Business Model</a:t>
            </a:r>
            <a:endParaRPr lang="en-US" sz="3600" dirty="0"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727650" y="1203960"/>
            <a:ext cx="7688700" cy="39395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US" sz="2200" b="1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B2B </a:t>
            </a:r>
            <a:r>
              <a:rPr lang="en-US" sz="2200" b="1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Sales</a:t>
            </a:r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 Direct to small and medium businesses.</a:t>
            </a:r>
          </a:p>
          <a:p>
            <a:pPr algn="just"/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Subscription Packages: Monthly/quarterly deliveries with discounts.</a:t>
            </a:r>
          </a:p>
          <a:p>
            <a:pPr algn="just"/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Optional premium add-ons: customized branding and packaging design.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500" b="1" smtClean="0"/>
              <a:t>7</a:t>
            </a:fld>
            <a:endParaRPr lang="en" sz="1500" b="1" dirty="0"/>
          </a:p>
        </p:txBody>
      </p:sp>
    </p:spTree>
    <p:extLst>
      <p:ext uri="{BB962C8B-B14F-4D97-AF65-F5344CB8AC3E}">
        <p14:creationId xmlns:p14="http://schemas.microsoft.com/office/powerpoint/2010/main" val="973982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637309" y="609600"/>
            <a:ext cx="7779041" cy="665018"/>
          </a:xfrm>
          <a:prstGeom prst="rect">
            <a:avLst/>
          </a:prstGeom>
        </p:spPr>
        <p:style>
          <a:lnRef idx="0">
            <a:scrgbClr r="0" g="0" b="0"/>
          </a:lnRef>
          <a:fillRef idx="1002">
            <a:schemeClr val="dk1"/>
          </a:fillRef>
          <a:effectRef idx="0">
            <a:scrgbClr r="0" g="0" b="0"/>
          </a:effectRef>
          <a:fontRef idx="maj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600" dirty="0"/>
              <a:t>Traction / Validation</a:t>
            </a:r>
            <a:endParaRPr lang="en-US" sz="3600" dirty="0"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727650" y="1255776"/>
            <a:ext cx="7688700" cy="37551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Prototype </a:t>
            </a:r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tested with 5 local businesses – 100% positive feedback.</a:t>
            </a:r>
          </a:p>
          <a:p>
            <a:pPr algn="just"/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High engagement from eco-conscious startups on social media.</a:t>
            </a:r>
          </a:p>
          <a:p>
            <a:pPr algn="just"/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Early letters of intent from interested clients.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600" b="1" smtClean="0"/>
              <a:t>8</a:t>
            </a:fld>
            <a:endParaRPr lang="en" b="1" dirty="0"/>
          </a:p>
        </p:txBody>
      </p:sp>
    </p:spTree>
    <p:extLst>
      <p:ext uri="{BB962C8B-B14F-4D97-AF65-F5344CB8AC3E}">
        <p14:creationId xmlns:p14="http://schemas.microsoft.com/office/powerpoint/2010/main" val="3471574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586740" y="647447"/>
            <a:ext cx="7829610" cy="603932"/>
          </a:xfrm>
          <a:prstGeom prst="rect">
            <a:avLst/>
          </a:prstGeom>
        </p:spPr>
        <p:style>
          <a:lnRef idx="0">
            <a:scrgbClr r="0" g="0" b="0"/>
          </a:lnRef>
          <a:fillRef idx="1002">
            <a:schemeClr val="dk1"/>
          </a:fillRef>
          <a:effectRef idx="0">
            <a:scrgbClr r="0" g="0" b="0"/>
          </a:effectRef>
          <a:fontRef idx="major"/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600" dirty="0"/>
              <a:t>Team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586740" y="1255776"/>
            <a:ext cx="7909560" cy="37551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Founder</a:t>
            </a:r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 Environmental science + logistics expertise.</a:t>
            </a:r>
          </a:p>
          <a:p>
            <a:pPr algn="just"/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Co-founder: Small business and e-commerce operations.</a:t>
            </a:r>
          </a:p>
          <a:p>
            <a:pPr algn="just"/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Designer: Packaging and branding specialist.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600" b="1" smtClean="0"/>
              <a:t>9</a:t>
            </a:fld>
            <a:endParaRPr lang="en" b="1" dirty="0"/>
          </a:p>
        </p:txBody>
      </p:sp>
    </p:spTree>
    <p:extLst>
      <p:ext uri="{BB962C8B-B14F-4D97-AF65-F5344CB8AC3E}">
        <p14:creationId xmlns:p14="http://schemas.microsoft.com/office/powerpoint/2010/main" val="1255007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727650" y="571500"/>
            <a:ext cx="7688700" cy="5943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600" dirty="0"/>
              <a:t>Financials / Funding Ask</a:t>
            </a:r>
            <a:endParaRPr lang="en-US" sz="3600" dirty="0"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727650" y="1268818"/>
            <a:ext cx="7688700" cy="37420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Seeking </a:t>
            </a:r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$50,000 to scale production, develop the online platform, and marketing campaigns.</a:t>
            </a:r>
          </a:p>
          <a:p>
            <a:pPr algn="just"/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Projected breakeven: within 12 months.</a:t>
            </a:r>
          </a:p>
          <a:p>
            <a:pPr algn="just"/>
            <a:r>
              <a:rPr lang="en-US" sz="2200" dirty="0">
                <a:solidFill>
                  <a:schemeClr val="bg2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Revenue streams: product sales, subscription packages, premium branding add-ons.</a:t>
            </a:r>
          </a:p>
          <a:p>
            <a:pPr marL="342900" indent="-342900" algn="just">
              <a:lnSpc>
                <a:spcPct val="100000"/>
              </a:lnSpc>
              <a:spcAft>
                <a:spcPts val="1200"/>
              </a:spcAft>
            </a:pPr>
            <a:endParaRPr lang="en-US" sz="22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600" b="1" smtClean="0"/>
              <a:t>10</a:t>
            </a:fld>
            <a:endParaRPr lang="en" b="1" dirty="0"/>
          </a:p>
        </p:txBody>
      </p:sp>
    </p:spTree>
    <p:extLst>
      <p:ext uri="{BB962C8B-B14F-4D97-AF65-F5344CB8AC3E}">
        <p14:creationId xmlns:p14="http://schemas.microsoft.com/office/powerpoint/2010/main" val="3818146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EB63049A-7350-4A32-2A5E-1F115830B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                            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endParaRPr lang="en-US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xmlns="" id="{2B31F164-0AA0-6D78-3291-21C10DF3F708}"/>
              </a:ext>
            </a:extLst>
          </p:cNvPr>
          <p:cNvSpPr txBox="1">
            <a:spLocks/>
          </p:cNvSpPr>
          <p:nvPr/>
        </p:nvSpPr>
        <p:spPr>
          <a:xfrm>
            <a:off x="3307080" y="1812450"/>
            <a:ext cx="4975008" cy="884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FBCC6CE8-12D2-4DCF-B42C-1FE165262518}"/>
              </a:ext>
            </a:extLst>
          </p:cNvPr>
          <p:cNvSpPr/>
          <p:nvPr/>
        </p:nvSpPr>
        <p:spPr>
          <a:xfrm>
            <a:off x="2658618" y="1729741"/>
            <a:ext cx="4161282" cy="1844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2"/>
                </a:solidFill>
              </a:rPr>
              <a:t>Thank You !!!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600" b="1" smtClean="0"/>
              <a:t>11</a:t>
            </a:fld>
            <a:endParaRPr lang="en" b="1" dirty="0"/>
          </a:p>
        </p:txBody>
      </p:sp>
    </p:spTree>
    <p:extLst>
      <p:ext uri="{BB962C8B-B14F-4D97-AF65-F5344CB8AC3E}">
        <p14:creationId xmlns:p14="http://schemas.microsoft.com/office/powerpoint/2010/main" val="4278808181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6126</TotalTime>
  <Words>411</Words>
  <Application>Microsoft Office PowerPoint</Application>
  <PresentationFormat>On-screen Show (16:9)</PresentationFormat>
  <Paragraphs>68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Arial</vt:lpstr>
      <vt:lpstr>Microsoft Himalaya</vt:lpstr>
      <vt:lpstr>Raleway</vt:lpstr>
      <vt:lpstr>Lato</vt:lpstr>
      <vt:lpstr>Wingdings</vt:lpstr>
      <vt:lpstr>Noto Serif CJK SC</vt:lpstr>
      <vt:lpstr>Times New Roman</vt:lpstr>
      <vt:lpstr>Lohit Devanagari</vt:lpstr>
      <vt:lpstr>Cardo</vt:lpstr>
      <vt:lpstr>Calibri</vt:lpstr>
      <vt:lpstr>Streamline</vt:lpstr>
      <vt:lpstr> Name: Fasil kassahun   EcoBox – Sustainable Packaging Solutions  PLP Academy </vt:lpstr>
      <vt:lpstr>                      Outlines </vt:lpstr>
      <vt:lpstr>Problem </vt:lpstr>
      <vt:lpstr>Solution</vt:lpstr>
      <vt:lpstr>Market Opportunity</vt:lpstr>
      <vt:lpstr>Product / Technology</vt:lpstr>
      <vt:lpstr>Business Model</vt:lpstr>
      <vt:lpstr>Traction / Validation</vt:lpstr>
      <vt:lpstr>Team</vt:lpstr>
      <vt:lpstr>Financials / Funding Ask</vt:lpstr>
      <vt:lpstr>                                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Design and Methodology  Research Proposal on Predicting Students Best-fit Academic Program using Machine Learning</dc:title>
  <dc:creator>curry</dc:creator>
  <cp:lastModifiedBy>mulunesh</cp:lastModifiedBy>
  <cp:revision>229</cp:revision>
  <dcterms:modified xsi:type="dcterms:W3CDTF">2025-12-04T09:42:15Z</dcterms:modified>
</cp:coreProperties>
</file>